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6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5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029200" cy="50292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92024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em cada processo.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2194560" cy="329184"/>
          </a:xfrm>
          <a:prstGeom prst="rect">
            <a:avLst/>
          </a:prstGeom>
          <a:solidFill>
            <a:srgbClr val="1E3080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Atendimento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3840480"/>
            <a:ext cx="2194560" cy="329184"/>
          </a:xfrm>
          <a:prstGeom prst="rect">
            <a:avLst/>
          </a:prstGeom>
          <a:solidFill>
            <a:srgbClr val="1E3080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926080" y="3840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3840480"/>
            <a:ext cx="2194560" cy="329184"/>
          </a:xfrm>
          <a:prstGeom prst="rect">
            <a:avLst/>
          </a:prstGeom>
          <a:solidFill>
            <a:srgbClr val="1E3080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49240" y="3840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sem Custo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663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  ·  São Paulo, SP  ·  prumaia.com.br</a:t>
            </a:r>
            <a:endParaRPr lang="en-US" sz="900" dirty="0"/>
          </a:p>
        </p:txBody>
      </p:sp>
      <p:pic>
        <p:nvPicPr>
          <p:cNvPr id="18" name="Imagem 1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0BD7DD7-81E7-7BCB-4D72-D4E77CDD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58" y="1980519"/>
            <a:ext cx="4546444" cy="1123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069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307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618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PMEs com automação de atendimento e processos administrativos usando IA de ponta.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19272" y="1069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9272" y="1307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618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sócios seniores: Kelly Lima (Gestão), Marcelo Mattioli (Tech), Diogo Arado (Comercial).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89320" y="96012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53912" y="1069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53912" y="1307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3912" y="1618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com n8n, OpenAI, Claude, Gemini — entregando escala sem aumento de custo operacional.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4632" y="3035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5844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em São Paulo/SP. 23,2M empresas ativas no Brasil, 93,6% são micro/pequenas. Crescimento de 19% em 2025.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154680" y="292608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19272" y="3035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9272" y="35844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pontual (TM R$10k→11k) + mensalidade de manutenção (R$1.000/mês por cliente).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92608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989320" y="2926080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153912" y="3035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Ano 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3912" y="35844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R$ 1.023.750 de receita bruta. Margem líquida 90,2%. Break-even no mês 3. MRR R$67k no mês 12.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114800" cy="41148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Conceito &amp; Proposito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 Oportunidade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651760" cy="22402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65176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tempo médio que PMEs gastam em tarefas manuais operacionais (Conta Simples / Visa)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828800"/>
            <a:ext cx="2651760" cy="22402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154680" y="1828800"/>
            <a:ext cx="2651760" cy="64008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C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9184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dependem de planilhas e processos manuais para controlar seus negócios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2651760" cy="22402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89320" y="1828800"/>
            <a:ext cx="2651760" cy="64008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26480" y="19385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2648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perdida por empresas com baixa eficiência operacional — retrabalho e falhas (McKinsey)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64008" cy="777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0352" y="42976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em Expansão Acelerada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553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registrou 4,6 milhões de novos pequenos negócios em 2025 — crescimento de 19% vs 2024, recorde histórico (Sebrae). São Paulo lidera com 29% das aberturas. 23,2 milhões de empresas ativas, 93,6% são micro/pequenas.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PrumaIA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69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2880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Atendimento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109728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no WhatsApp 24/7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automática de leads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 automatizados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inteligente com contexto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humanizada para equipe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visível no faturamento — indicador #1 do empresário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3685032"/>
            <a:ext cx="1188720" cy="36576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51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64008" cy="288036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82312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Processos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82312" y="1389888"/>
            <a:ext cx="1097280" cy="3657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82312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82312" y="17373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digital de clientes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e gestão de documentos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ERP / CRM / Planilhas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dashboards automáticos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aprovações inteligentes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Ticket maior, menor churn, fidelização da carteira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977640"/>
            <a:ext cx="8503920" cy="1005840"/>
          </a:xfrm>
          <a:prstGeom prst="rect">
            <a:avLst/>
          </a:prstGeom>
          <a:solidFill>
            <a:srgbClr val="E0F6FE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" y="3977640"/>
            <a:ext cx="64008" cy="10058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0352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13232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38528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103120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28416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493008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18304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82896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08192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272784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 Codex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98080" y="4407408"/>
            <a:ext cx="109728" cy="10972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662672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+ VS Code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Time Fundador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Fundador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12243" y="1753987"/>
            <a:ext cx="1097280" cy="109728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12243" y="1753987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4731" y="2902805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Lima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5083" y="3383280"/>
            <a:ext cx="146304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2163" y="305077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Elétrica + Gestão de Produtos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anos em inovação e gestão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 Falconi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de Operações — W1 Business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Portfólio, delivery e administrativo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6118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743200" cy="64008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038323" y="1753987"/>
            <a:ext cx="1097280" cy="1097280"/>
          </a:xfrm>
          <a:prstGeom prst="ellipse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038323" y="1753987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70811" y="2902805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Mattioli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01163" y="3383280"/>
            <a:ext cx="1463040" cy="36576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398243" y="305077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Sistemas — 18+ anos dev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Ex-CTO, empresa de R$20M em TI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E-com — alta complexidade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em integrações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W1 Business — alto valor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6118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743200" cy="64008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964403" y="1753987"/>
            <a:ext cx="1097280" cy="1097280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964403" y="1753987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6891" y="2902805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Arado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27243" y="3383280"/>
            <a:ext cx="1463040" cy="36576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324323" y="305077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Sistemas — 15+ anos gestor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Ex-COO de empresa de tecnologia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em projetos tech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W1 Business — alto valor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operando em paralelo à W1 Business  ·  15h/semana cada  ·  45h semanais coletivas  ·  Sem conflito de interesse</a:t>
            </a:r>
            <a:endParaRPr lang="en-US" sz="85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0DE7BA4C-5622-D5D0-7002-6477A945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59" y="1683327"/>
            <a:ext cx="1195819" cy="1231515"/>
          </a:xfrm>
          <a:prstGeom prst="ellipse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F24CE426-536E-A24C-DE76-5569A5654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303" y="1743596"/>
            <a:ext cx="1183479" cy="1177897"/>
          </a:xfrm>
          <a:prstGeom prst="ellipse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72F56852-048F-1FEC-39B1-9329179B6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73" y="1663822"/>
            <a:ext cx="1195819" cy="1257671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86789" y="1313411"/>
            <a:ext cx="4069080" cy="2130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86789" y="1313411"/>
            <a:ext cx="64008" cy="2130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97101" y="1423139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7101" y="1843763"/>
            <a:ext cx="54864" cy="10058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79981" y="184376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Implantação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981" y="211808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R$ 10.000 → R$ 11.000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9981" y="2410691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desenvolvimento e entrega. Ticket cresce 10% progressivamente até o mês 10.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6789" y="3593591"/>
            <a:ext cx="8503920" cy="860783"/>
          </a:xfrm>
          <a:prstGeom prst="rect">
            <a:avLst/>
          </a:prstGeom>
          <a:solidFill>
            <a:srgbClr val="E0F6FE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86789" y="3593591"/>
            <a:ext cx="64008" cy="860783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97101" y="3743607"/>
            <a:ext cx="4114800" cy="34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Pricing (Fase 2 — a partir do 5º projeto):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7101" y="3995149"/>
            <a:ext cx="8229600" cy="331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por complexidade (variáveis, validações, integrações) → precificação dinâmica e precisa. Primeiros 5 projetos com pacotes fixos para calibrar os pesos com dados reais.</a:t>
            </a:r>
            <a:endParaRPr lang="en-US" sz="850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1BBB3CCE-AEBA-5B22-906F-EA19F5692A09}"/>
              </a:ext>
            </a:extLst>
          </p:cNvPr>
          <p:cNvSpPr/>
          <p:nvPr/>
        </p:nvSpPr>
        <p:spPr>
          <a:xfrm>
            <a:off x="4721631" y="1304267"/>
            <a:ext cx="4069080" cy="2130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5304835-59C1-D825-7840-4253A472A256}"/>
              </a:ext>
            </a:extLst>
          </p:cNvPr>
          <p:cNvSpPr/>
          <p:nvPr/>
        </p:nvSpPr>
        <p:spPr>
          <a:xfrm>
            <a:off x="4721631" y="1304267"/>
            <a:ext cx="64008" cy="2130552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B68B0A63-8330-4942-1E99-DD1996043C01}"/>
              </a:ext>
            </a:extLst>
          </p:cNvPr>
          <p:cNvSpPr/>
          <p:nvPr/>
        </p:nvSpPr>
        <p:spPr>
          <a:xfrm>
            <a:off x="4931943" y="1413995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30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63FCAF08-942B-E792-81C2-00BE8AF3E2F7}"/>
              </a:ext>
            </a:extLst>
          </p:cNvPr>
          <p:cNvSpPr/>
          <p:nvPr/>
        </p:nvSpPr>
        <p:spPr>
          <a:xfrm>
            <a:off x="4931943" y="1843763"/>
            <a:ext cx="54864" cy="100584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6367A664-5B13-093F-DDBE-5C040C849256}"/>
              </a:ext>
            </a:extLst>
          </p:cNvPr>
          <p:cNvSpPr/>
          <p:nvPr/>
        </p:nvSpPr>
        <p:spPr>
          <a:xfrm>
            <a:off x="5114823" y="184376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de Manutenção</a:t>
            </a:r>
            <a:endParaRPr lang="en-US" sz="11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4E937F1B-19AD-1E89-3E2B-634E71D6AC07}"/>
              </a:ext>
            </a:extLst>
          </p:cNvPr>
          <p:cNvSpPr/>
          <p:nvPr/>
        </p:nvSpPr>
        <p:spPr>
          <a:xfrm>
            <a:off x="5114823" y="211808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 / mês / cliente</a:t>
            </a:r>
            <a:endParaRPr lang="en-US" sz="14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9908AC8B-2810-12A7-B48E-4AAF0767B6B8}"/>
              </a:ext>
            </a:extLst>
          </p:cNvPr>
          <p:cNvSpPr/>
          <p:nvPr/>
        </p:nvSpPr>
        <p:spPr>
          <a:xfrm>
            <a:off x="5114823" y="2410691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evoluções e monitoramento contínuo. Gera MRR crescente a cada novo cliente.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Go-to-Market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Ideal (ICP)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em São Paulo / SP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50 </a:t>
            </a: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 de atendimento repetitivo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tomador</a:t>
            </a: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decisão direto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WhatsApp, Instagram e Facebook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 a dor de perder venda por falta de </a:t>
            </a: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1783080" cy="356616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17830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355848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55848" y="2267712"/>
            <a:ext cx="128016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55848" y="237744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máquina de aquisição do zero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tráfego pago R$100/mês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3 primeiros projetos fechados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demo de alto nível e impacto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84648" y="1188720"/>
            <a:ext cx="1783080" cy="356616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184648" y="1188720"/>
            <a:ext cx="1783080" cy="64008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294376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94376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94376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4–8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94376" y="2267712"/>
            <a:ext cx="1280160" cy="36576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94376" y="237744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com ROI documentado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LinkedIn + Instagram/Facebook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contadores e consultores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5–7 projetos/mês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23176" y="1188720"/>
            <a:ext cx="1783080" cy="356616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123176" y="1188720"/>
            <a:ext cx="1783080" cy="64008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232904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32904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32904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9–12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32904" y="2267712"/>
            <a:ext cx="1280160" cy="36576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232904" y="237744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padronizados por nicho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pricing ativa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&gt; R$40k/mês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primeira contratação técnica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Premium: Conversa de alto nível, alto impacto, alto resultado — credibilidade construída pela experiência real do time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868680"/>
          </a:xfrm>
          <a:prstGeom prst="rect">
            <a:avLst/>
          </a:prstGeom>
          <a:solidFill>
            <a:srgbClr val="E05A4B"/>
          </a:solidFill>
          <a:ln w="12700">
            <a:solidFill>
              <a:srgbClr val="E05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de IA (Intelecta, Madweb, WizAI)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 Direto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mercado, mesmo stack. Promessas genéricas, sem experiência empresarial real de alto nível.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SaaS (BotConversa, SleekFlow)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225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 Indireto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5054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configura sozinho. Sem diagnóstico, sem customização, sem suporte estratégico de negócio.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64008" cy="868680"/>
          </a:xfrm>
          <a:prstGeom prst="rect">
            <a:avLst/>
          </a:prstGeom>
          <a:solidFill>
            <a:srgbClr val="8A9BC4"/>
          </a:solidFill>
          <a:ln w="12700">
            <a:solidFill>
              <a:srgbClr val="8A9B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de automação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 Periférico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técnica sem visão de negócio. Não entregam ROI mensurável nem escala sustentável.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32120" y="960120"/>
            <a:ext cx="32918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532120" y="960120"/>
            <a:ext cx="64008" cy="2971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742432" y="1069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PrumaIA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42432" y="14173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com empresa de R$20M em TI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real em ERP, CRM, E-commerce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 resultado, não só tecnologia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selling de alto nível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 em cada entrega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flexível — sem lock-in de fornecedor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sênior, 45h/semana dedicadas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E0F6FE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20040" y="4041648"/>
            <a:ext cx="64008" cy="8046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30352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Estratégico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está crescendo e fragmentado. Nenhum concorrente tem a combinação de credibilidade técnica de alto nível + visão de negócio + capacidade comercial que a PrumaIA possui. O posicionamento premium é sustentável e defensável.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286000"/>
            <a:ext cx="3657600" cy="36576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Projeção Financeira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Financeira — Ano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83564"/>
            <a:ext cx="1572768" cy="111556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083564"/>
            <a:ext cx="1572768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8912" y="12024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R$ 1.023.750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6596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Ano 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84832" y="1083564"/>
            <a:ext cx="1572768" cy="111556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084832" y="1083564"/>
            <a:ext cx="1572768" cy="54864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157984" y="12024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R$ 923.883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57984" y="16596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Operacional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03904" y="1083564"/>
            <a:ext cx="1572768" cy="111556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03904" y="1083564"/>
            <a:ext cx="1572768" cy="54864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877056" y="12024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77056" y="16596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22976" y="1083564"/>
            <a:ext cx="1572768" cy="111556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522976" y="1083564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596128" y="12024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96128" y="16596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42048" y="1083564"/>
            <a:ext cx="1572768" cy="111556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242048" y="1083564"/>
            <a:ext cx="1572768" cy="54864"/>
          </a:xfrm>
          <a:prstGeom prst="rect">
            <a:avLst/>
          </a:prstGeom>
          <a:solidFill>
            <a:srgbClr val="5BF0C0"/>
          </a:solidFill>
          <a:ln w="12700">
            <a:solidFill>
              <a:srgbClr val="5BF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15200" y="12024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F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R$ 67.000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6596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no Mês 12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999"/>
              </p:ext>
            </p:extLst>
          </p:nvPr>
        </p:nvGraphicFramePr>
        <p:xfrm>
          <a:off x="365760" y="2327148"/>
          <a:ext cx="8449056" cy="1417320"/>
        </p:xfrm>
        <a:graphic>
          <a:graphicData uri="http://schemas.openxmlformats.org/drawingml/2006/table">
            <a:tbl>
              <a:tblPr/>
              <a:tblGrid>
                <a:gridCol w="1066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82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9BC4"/>
                          </a:solidFill>
                        </a:rPr>
                        <a:t>Projetos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9BC4"/>
                          </a:solidFill>
                        </a:rPr>
                        <a:t>Clientes Ativos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25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48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57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67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9BC4"/>
                          </a:solidFill>
                        </a:rPr>
                        <a:t>Receita (R$)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R$33k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R$47k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R$63k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R$80k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R$99k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R$106k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R$126k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R$136k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R$158k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R$177k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9BC4"/>
                          </a:solidFill>
                        </a:rPr>
                        <a:t>Lucro Op. (R$)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R$30k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R$43k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R$58k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R$72k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R$89k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R$96k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R$114k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R$124k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R$142k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AEEF"/>
                          </a:solidFill>
                        </a:rPr>
                        <a:t>R$159k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65760" y="3881628"/>
            <a:ext cx="8449056" cy="56692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365760" y="3881628"/>
            <a:ext cx="64008" cy="56692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66928" y="39639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Nacional Anexo 3 (2026):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42016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faixa 6% (até R$180k)  →  2ª 11,2% (R$180k–360k)  →  3ª 13,5% (R$360k–720k)  →  4ª 16% (R$720k–1,8M)  |  Total impostos ano 1: R$ 84.243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4567428"/>
            <a:ext cx="8449056" cy="41148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48640" y="46497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Fixos R$1.302/mês  ·  n8n VPS R$79  ·  Google Workspace R$98  ·  Hostinger R$15  ·  Claude Code Max R$580  ·  Claude Pro ×2 R$230  ·  Tráfego R$100  ·  Contador R$200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— Demonstração de Resultado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53176"/>
              </p:ext>
            </p:extLst>
          </p:nvPr>
        </p:nvGraphicFramePr>
        <p:xfrm>
          <a:off x="274320" y="960120"/>
          <a:ext cx="8522208" cy="3136392"/>
        </p:xfrm>
        <a:graphic>
          <a:graphicData uri="http://schemas.openxmlformats.org/drawingml/2006/table">
            <a:tbl>
              <a:tblPr/>
              <a:tblGrid>
                <a:gridCol w="1342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7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4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M8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M9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M10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M11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ANO 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D1B4B"/>
                          </a:solidFill>
                        </a:rPr>
                        <a:t>Receita Bruta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R$33k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R$47k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R$63k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R$80k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R$99k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R$106k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R$126k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R$136k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R$158k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R$177k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R$1024k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</a:rPr>
                        <a:t>(-) Simples Nac.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R$2k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R$7k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R$8k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R$15k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R$84k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D1B4B"/>
                          </a:solidFill>
                        </a:rPr>
                        <a:t>Receita Líquida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R$ 0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R$31k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R$44k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R$59k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R$73k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R$90k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R$97k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R$116k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R$125k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R$143k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R$161k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D1B4B"/>
                          </a:solidFill>
                        </a:rPr>
                        <a:t>R$940k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</a:rPr>
                        <a:t>(-) Custos Fixos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C4444"/>
                          </a:solidFill>
                        </a:rPr>
                        <a:t>R$16k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D1B4B"/>
                          </a:solidFill>
                        </a:rPr>
                        <a:t>Lucro Operacional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05A4B"/>
                          </a:solidFill>
                        </a:rPr>
                        <a:t>-R$1k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05A4B"/>
                          </a:solidFill>
                        </a:rPr>
                        <a:t>-R$1k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R$30k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R$43k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R$58k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R$72k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R$89k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R$96k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R$114k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R$124k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R$142k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R$159k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A7A4A"/>
                          </a:solidFill>
                        </a:rPr>
                        <a:t>R$924k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</a:rPr>
                        <a:t>Lucro Acumulado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05A4B"/>
                          </a:solidFill>
                        </a:rPr>
                        <a:t>-R$1k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05A4B"/>
                          </a:solidFill>
                        </a:rPr>
                        <a:t>-R$3k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R$27k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R$70k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R$128k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R$200k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R$289k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R$384k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R$499k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R$622k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R$765k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R$924k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3080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24528"/>
            <a:ext cx="19385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74320" y="4224528"/>
            <a:ext cx="64008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75488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90,2%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4224528"/>
            <a:ext cx="19385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8"/>
          <p:cNvSpPr/>
          <p:nvPr/>
        </p:nvSpPr>
        <p:spPr>
          <a:xfrm>
            <a:off x="2468880" y="4224528"/>
            <a:ext cx="64008" cy="74980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670048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R$ 84.243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70048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Impostos Totais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4224528"/>
            <a:ext cx="19385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663440" y="4224528"/>
            <a:ext cx="6400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864608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R$ 15.624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64608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Total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58000" y="4224528"/>
            <a:ext cx="19385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858000" y="4224528"/>
            <a:ext cx="64008" cy="7498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059168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59168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— Próximos 90 Dias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68096"/>
            <a:ext cx="12801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32095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" cy="3209539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8912" y="1115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Legal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755648"/>
            <a:ext cx="128016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" y="2007316"/>
            <a:ext cx="128016" cy="12801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" y="1874520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contrato de sócios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2423160"/>
            <a:ext cx="128016" cy="12801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" y="2363724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CNPJ (Simples Nacional Anexo 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2880360"/>
            <a:ext cx="128016" cy="12801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8368" y="2834640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portfólio e escopo dos pacotes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333404"/>
            <a:ext cx="128016" cy="12801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6656" y="3214532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Contabilizei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1005840"/>
            <a:ext cx="1965960" cy="32095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423160" y="1005840"/>
            <a:ext cx="64008" cy="3209539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587752" y="1115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87752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Digital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87752" y="1755648"/>
            <a:ext cx="1280160" cy="3657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606040" y="2007316"/>
            <a:ext cx="128016" cy="128016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807208" y="1874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 (Hostinger)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2421913"/>
            <a:ext cx="128016" cy="128016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813650" y="2313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@prumaia.com.br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2880360"/>
            <a:ext cx="128016" cy="128016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2807208" y="2778113"/>
            <a:ext cx="1508760" cy="346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empresa + sócios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9365" y="3333404"/>
            <a:ext cx="128016" cy="128016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821755" y="32419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e proposta comercial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005840"/>
            <a:ext cx="1965960" cy="32095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572000" y="1005840"/>
            <a:ext cx="64008" cy="3209539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36592" y="1115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Pipeline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36592" y="1755648"/>
            <a:ext cx="1280160" cy="36576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754880" y="2007524"/>
            <a:ext cx="128016" cy="128016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956048" y="1874520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tráfego pago R$100/mês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27732"/>
            <a:ext cx="128016" cy="128016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956048" y="2295144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 reuniões agendadas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60699" y="2889504"/>
            <a:ext cx="128016" cy="128016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956048" y="2768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automação demonstrável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62361" y="3338392"/>
            <a:ext cx="128016" cy="128016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956048" y="3207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demo de alto nível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0840" y="1005840"/>
            <a:ext cx="1965960" cy="32095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6720840" y="1005840"/>
            <a:ext cx="64008" cy="3209539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6885432" y="1115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85432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Clientes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85432" y="1755648"/>
            <a:ext cx="1280160" cy="3657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6890835" y="2007316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104888" y="1874520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e entregar 3 projetos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90835" y="2427732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104888" y="2304288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cases com ROI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90835" y="2889504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7104888" y="27847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mensalidades recorrentes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92498" y="3332574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104888" y="323281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Atingir break-even operacional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43608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90 dias: CNPJ aberto  ·  Presença digital ativa  ·  3 clientes fechados  ·  Primeiro MRR recorrente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230283" y="268085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em cada processo.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283" y="329350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R$ 1.023.750 em receita bruta no Ano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0283" y="364097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 de 90,2%  ·  Custo fixo R$ 1.302/mês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0283" y="398844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de R$ 67.000/mês ao final do Ano 1  ·  Break-even Mês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4683" y="439078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Lima  ·  Marcelo Mattioli  ·  Diogo Arado</a:t>
            </a:r>
            <a:endParaRPr lang="en-US" sz="1000" dirty="0"/>
          </a:p>
        </p:txBody>
      </p:sp>
      <p:pic>
        <p:nvPicPr>
          <p:cNvPr id="14" name="Imagem 1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832F7D55-9D56-6750-22C0-FF10D8724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48724"/>
            <a:ext cx="4546444" cy="11230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1634</Words>
  <Application>Microsoft Macintosh PowerPoint</Application>
  <PresentationFormat>Apresentação na tela (16:9)</PresentationFormat>
  <Paragraphs>368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PrumaIA — Business Plan 2025/2026</dc:title>
  <dc:subject>PptxGenJS Presentation</dc:subject>
  <dc:creator>PptxGenJS</dc:creator>
  <cp:lastModifiedBy>Kelly Lima</cp:lastModifiedBy>
  <cp:revision>2</cp:revision>
  <dcterms:created xsi:type="dcterms:W3CDTF">2026-04-18T20:54:28Z</dcterms:created>
  <dcterms:modified xsi:type="dcterms:W3CDTF">2026-04-18T21:31:03Z</dcterms:modified>
</cp:coreProperties>
</file>